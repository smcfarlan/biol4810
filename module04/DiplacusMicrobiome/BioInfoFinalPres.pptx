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0" r:id="rId6"/>
    <p:sldId id="269" r:id="rId7"/>
    <p:sldId id="268" r:id="rId8"/>
    <p:sldId id="267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6BFE1-AA9E-494A-A298-7F0E62AD5701}" v="40" dt="2026-05-21T01:46:57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90" d="100"/>
          <a:sy n="90" d="100"/>
        </p:scale>
        <p:origin x="173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7" y="643467"/>
            <a:ext cx="5240965" cy="4567137"/>
          </a:xfrm>
        </p:spPr>
        <p:txBody>
          <a:bodyPr>
            <a:normAutofit/>
          </a:bodyPr>
          <a:lstStyle/>
          <a:p>
            <a:r>
              <a:rPr lang="en-US" sz="4400" dirty="0"/>
              <a:t>A Failed Analysis of </a:t>
            </a:r>
            <a:r>
              <a:rPr lang="en-US" sz="4400" i="1" dirty="0"/>
              <a:t>Diplacus aurantiacus</a:t>
            </a:r>
            <a:r>
              <a:rPr lang="en-US" sz="4400" dirty="0"/>
              <a:t> Microbiomes Across California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Bioinformatics Final Presentation</a:t>
            </a:r>
          </a:p>
          <a:p>
            <a:pPr algn="l"/>
            <a:r>
              <a:rPr lang="en-US" sz="2000" dirty="0"/>
              <a:t>Sean McFarlan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35628-F8F5-4003-550C-B6B6A12CA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5" r="16555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BA160-6B4F-C2E4-F5B3-40AAA75B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AFFA-D1C9-054C-D93E-3BBD5B086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8632" cy="4351338"/>
          </a:xfrm>
        </p:spPr>
        <p:txBody>
          <a:bodyPr/>
          <a:lstStyle/>
          <a:p>
            <a:r>
              <a:rPr lang="en-US" dirty="0"/>
              <a:t>The orange bush monkeyflower OR the sticky monkeyflower</a:t>
            </a:r>
          </a:p>
          <a:p>
            <a:pPr lvl="1"/>
            <a:r>
              <a:rPr lang="en-US" i="1" dirty="0"/>
              <a:t>Diplacus aurantiacus</a:t>
            </a:r>
          </a:p>
          <a:p>
            <a:pPr lvl="1"/>
            <a:r>
              <a:rPr lang="en-US" dirty="0"/>
              <a:t>Perennial, bushy wildflower with large orange flowers and herbaceous to woody stems.</a:t>
            </a:r>
          </a:p>
          <a:p>
            <a:pPr lvl="1"/>
            <a:r>
              <a:rPr lang="en-US" dirty="0"/>
              <a:t>All over Western North America.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8B434E-EFCC-7494-7711-48CD65C31F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920" y="1002957"/>
            <a:ext cx="4852085" cy="485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EF621-808B-9D48-0EA5-3EE16C37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Region: Monterrey and Southern California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CE392-9FC8-0F27-7BF2-41F847107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88802" cy="4351338"/>
          </a:xfrm>
        </p:spPr>
        <p:txBody>
          <a:bodyPr/>
          <a:lstStyle/>
          <a:p>
            <a:r>
              <a:rPr lang="en-US" dirty="0"/>
              <a:t>Mostly sampled around Monterrey</a:t>
            </a:r>
          </a:p>
          <a:p>
            <a:r>
              <a:rPr lang="en-US" dirty="0"/>
              <a:t>But then Oak Hills…?</a:t>
            </a:r>
          </a:p>
          <a:p>
            <a:pPr lvl="1"/>
            <a:r>
              <a:rPr lang="en-US" dirty="0"/>
              <a:t>Interesting out-group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4D7F7-C951-7F70-AA29-3FD4E235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2" y="1355883"/>
            <a:ext cx="7011008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57B1D-2A5D-F310-020C-605BB851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6C34-08E6-0013-95A9-2334B4876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0611" cy="4351338"/>
          </a:xfrm>
        </p:spPr>
        <p:txBody>
          <a:bodyPr/>
          <a:lstStyle/>
          <a:p>
            <a:r>
              <a:rPr lang="en-US" dirty="0"/>
              <a:t>Not sure how samples were collected….</a:t>
            </a:r>
          </a:p>
          <a:p>
            <a:r>
              <a:rPr lang="en-US" dirty="0"/>
              <a:t>Only metadata: rough locational info.</a:t>
            </a:r>
          </a:p>
          <a:p>
            <a:pPr lvl="1"/>
            <a:r>
              <a:rPr lang="en-US" dirty="0"/>
              <a:t>Plant condition?</a:t>
            </a:r>
          </a:p>
          <a:p>
            <a:pPr lvl="1"/>
            <a:r>
              <a:rPr lang="en-US" dirty="0"/>
              <a:t>Conditions at each sample site?</a:t>
            </a:r>
          </a:p>
          <a:p>
            <a:pPr lvl="1"/>
            <a:r>
              <a:rPr lang="en-US" dirty="0"/>
              <a:t>Oh well, we ball.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B8A8F-9D8F-9F3C-E0B2-E9D295FA7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9" y="4001294"/>
            <a:ext cx="9752381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0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CDF3-6F00-A307-13EF-5C9141700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1199-28A7-8137-C9B2-4AEE719DB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001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Combine .</a:t>
            </a:r>
            <a:r>
              <a:rPr lang="en-US" dirty="0" err="1"/>
              <a:t>gz</a:t>
            </a:r>
            <a:r>
              <a:rPr lang="en-US" dirty="0"/>
              <a:t> files into one collection.</a:t>
            </a:r>
          </a:p>
          <a:p>
            <a:pPr marL="0" indent="0">
              <a:buNone/>
            </a:pPr>
            <a:r>
              <a:rPr lang="en-US" dirty="0"/>
              <a:t>2. Assess read quality.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dada2: </a:t>
            </a:r>
            <a:r>
              <a:rPr lang="en-US" dirty="0" err="1"/>
              <a:t>plotQualityProfile</a:t>
            </a:r>
            <a:r>
              <a:rPr lang="en-US" dirty="0"/>
              <a:t> (Galaxy Version 1.38.0+galaxy0)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~125bp of good read</a:t>
            </a:r>
          </a:p>
          <a:p>
            <a:pPr marL="457200" lvl="1" indent="0">
              <a:buNone/>
            </a:pPr>
            <a:r>
              <a:rPr lang="en-US" dirty="0"/>
              <a:t>	(on forward)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B877F-43EF-7D68-69CB-BE587D6F8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927" y="919461"/>
            <a:ext cx="6753073" cy="501907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518EE6-8396-1E7A-0120-4EC1FA99B63D}"/>
              </a:ext>
            </a:extLst>
          </p:cNvPr>
          <p:cNvCxnSpPr>
            <a:cxnSpLocks/>
          </p:cNvCxnSpPr>
          <p:nvPr/>
        </p:nvCxnSpPr>
        <p:spPr>
          <a:xfrm>
            <a:off x="5784416" y="2423668"/>
            <a:ext cx="324158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3E34DE-7AD9-9A2D-20BD-7A1D96B979B0}"/>
              </a:ext>
            </a:extLst>
          </p:cNvPr>
          <p:cNvCxnSpPr>
            <a:cxnSpLocks/>
          </p:cNvCxnSpPr>
          <p:nvPr/>
        </p:nvCxnSpPr>
        <p:spPr>
          <a:xfrm>
            <a:off x="9026005" y="2423668"/>
            <a:ext cx="0" cy="3224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D29D283F-92CC-98D7-43F0-D20D0208135E}"/>
              </a:ext>
            </a:extLst>
          </p:cNvPr>
          <p:cNvSpPr/>
          <p:nvPr/>
        </p:nvSpPr>
        <p:spPr>
          <a:xfrm>
            <a:off x="8842107" y="2245024"/>
            <a:ext cx="367796" cy="337751"/>
          </a:xfrm>
          <a:prstGeom prst="star5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357B09-9AE9-8F2A-4F21-2519F95AA272}"/>
              </a:ext>
            </a:extLst>
          </p:cNvPr>
          <p:cNvSpPr txBox="1"/>
          <p:nvPr/>
        </p:nvSpPr>
        <p:spPr>
          <a:xfrm>
            <a:off x="7408333" y="622198"/>
            <a:ext cx="3945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 Read Quality Profile</a:t>
            </a:r>
          </a:p>
        </p:txBody>
      </p:sp>
    </p:spTree>
    <p:extLst>
      <p:ext uri="{BB962C8B-B14F-4D97-AF65-F5344CB8AC3E}">
        <p14:creationId xmlns:p14="http://schemas.microsoft.com/office/powerpoint/2010/main" val="59884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5A30-2B41-05B3-C68D-93F6BE14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CFE6E-4DF1-1E51-0F78-5F86C6902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244" y="1690688"/>
            <a:ext cx="4529667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3. Trim low-quality data.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dada2: </a:t>
            </a:r>
            <a:r>
              <a:rPr lang="en-US" dirty="0" err="1"/>
              <a:t>filterAndTrim</a:t>
            </a:r>
            <a:r>
              <a:rPr lang="en-US" dirty="0"/>
              <a:t> (Galaxy Version 1.38.0+galaxy0)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Truncate: 125bp F, 175bp 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Split output into forward and reverse collections.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Unzip collection (Galaxy Version 1.0.0)</a:t>
            </a:r>
          </a:p>
          <a:p>
            <a:pPr marL="0" indent="0">
              <a:buNone/>
            </a:pPr>
            <a:r>
              <a:rPr lang="en-US" dirty="0"/>
              <a:t>4. Assess sequencing error rate.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dada2: </a:t>
            </a:r>
            <a:r>
              <a:rPr lang="en-US" dirty="0" err="1"/>
              <a:t>learnErrors</a:t>
            </a:r>
            <a:r>
              <a:rPr lang="en-US" dirty="0"/>
              <a:t> (Galaxy Version 1.38.0+galaxy0)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Tag forward and reverse read sets.</a:t>
            </a:r>
          </a:p>
          <a:p>
            <a:pPr marL="0" indent="0">
              <a:buNone/>
            </a:pPr>
            <a:r>
              <a:rPr lang="en-US" dirty="0"/>
              <a:t>5. Remove suspected errors.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dada2: dada (Galaxy </a:t>
            </a:r>
            <a:r>
              <a:rPr lang="es-ES" dirty="0" err="1"/>
              <a:t>Version</a:t>
            </a:r>
            <a:r>
              <a:rPr lang="es-ES" dirty="0"/>
              <a:t> 1.38.0+galaxy0)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C003F-0E06-A734-06CD-D182D6E2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11" y="742717"/>
            <a:ext cx="7148179" cy="5372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EFB9EF-52EF-AD3D-2D61-BCED5B155AD4}"/>
              </a:ext>
            </a:extLst>
          </p:cNvPr>
          <p:cNvSpPr txBox="1"/>
          <p:nvPr/>
        </p:nvSpPr>
        <p:spPr>
          <a:xfrm>
            <a:off x="7509934" y="365125"/>
            <a:ext cx="262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learnErrors</a:t>
            </a:r>
            <a:r>
              <a:rPr lang="en-US" dirty="0"/>
              <a:t> Forward Plot</a:t>
            </a:r>
          </a:p>
        </p:txBody>
      </p:sp>
    </p:spTree>
    <p:extLst>
      <p:ext uri="{BB962C8B-B14F-4D97-AF65-F5344CB8AC3E}">
        <p14:creationId xmlns:p14="http://schemas.microsoft.com/office/powerpoint/2010/main" val="358661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7FF3F-E22A-EFD1-8589-B7B179D6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and Clean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13BEE-C44A-2BE0-522F-A12E30D9D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6. Recombine </a:t>
            </a:r>
            <a:r>
              <a:rPr lang="es-ES" dirty="0" err="1"/>
              <a:t>cleaned</a:t>
            </a:r>
            <a:r>
              <a:rPr lang="es-ES" dirty="0"/>
              <a:t> up </a:t>
            </a:r>
            <a:r>
              <a:rPr lang="es-ES" dirty="0" err="1"/>
              <a:t>reads</a:t>
            </a:r>
            <a:r>
              <a:rPr lang="es-E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dada2: </a:t>
            </a:r>
            <a:r>
              <a:rPr lang="en-US" dirty="0" err="1"/>
              <a:t>mergePairs</a:t>
            </a:r>
            <a:r>
              <a:rPr lang="en-US" dirty="0"/>
              <a:t> (Galaxy Version 1.38.0+galaxy0)</a:t>
            </a:r>
          </a:p>
          <a:p>
            <a:pPr marL="0" indent="0">
              <a:buNone/>
            </a:pPr>
            <a:r>
              <a:rPr lang="en-US" dirty="0"/>
              <a:t>7. Compile sequences into one table.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dada2: </a:t>
            </a:r>
            <a:r>
              <a:rPr lang="en-US" dirty="0" err="1"/>
              <a:t>makeSequenceTable</a:t>
            </a:r>
            <a:r>
              <a:rPr lang="en-US" dirty="0"/>
              <a:t> (Galaxy Version 1.38.0+galaxy0)</a:t>
            </a:r>
          </a:p>
          <a:p>
            <a:pPr marL="0" indent="0">
              <a:buNone/>
            </a:pPr>
            <a:r>
              <a:rPr lang="en-US" dirty="0"/>
              <a:t>8. Clean up PCR errors.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dada2: </a:t>
            </a:r>
            <a:r>
              <a:rPr lang="en-US" dirty="0" err="1"/>
              <a:t>removeBimeraDenovo</a:t>
            </a:r>
            <a:r>
              <a:rPr lang="en-US" dirty="0"/>
              <a:t> (Galaxy Version 1.38.0+galaxy0)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6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BD57-5EFF-9C5B-09A0-6980868A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Creative With Assign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7228F-8190-4F46-5E98-79D69021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9. Make best guesses on sequence taxonomy of origin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dada2: </a:t>
            </a:r>
            <a:r>
              <a:rPr lang="en-US" dirty="0" err="1"/>
              <a:t>assignTaxonomy</a:t>
            </a:r>
            <a:r>
              <a:rPr lang="en-US" dirty="0"/>
              <a:t> and </a:t>
            </a:r>
            <a:r>
              <a:rPr lang="en-US" dirty="0" err="1"/>
              <a:t>addSpecies</a:t>
            </a:r>
            <a:r>
              <a:rPr lang="en-US" dirty="0"/>
              <a:t> (Galaxy Version 1.38.0+galaxy0)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4083D-46A1-419E-1ECB-C3D76F57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9462"/>
            <a:ext cx="4215526" cy="309853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D382F9-2E6D-DB36-DD75-2F05B122DD2A}"/>
              </a:ext>
            </a:extLst>
          </p:cNvPr>
          <p:cNvSpPr txBox="1"/>
          <p:nvPr/>
        </p:nvSpPr>
        <p:spPr>
          <a:xfrm>
            <a:off x="838200" y="3412133"/>
            <a:ext cx="249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Silva 138 Reference 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BC40B-5501-5D4F-0163-54684B7AF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055" y="3759462"/>
            <a:ext cx="4525742" cy="309853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E02E7D-E6E7-4F33-887C-16974D0D5B3A}"/>
              </a:ext>
            </a:extLst>
          </p:cNvPr>
          <p:cNvSpPr txBox="1"/>
          <p:nvPr/>
        </p:nvSpPr>
        <p:spPr>
          <a:xfrm>
            <a:off x="4022018" y="3412134"/>
            <a:ext cx="3075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Silva Eukaryote 18S Ref. 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EAC04B-6051-C502-AB3D-F837C4A0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58"/>
          <a:stretch>
            <a:fillRect/>
          </a:stretch>
        </p:blipFill>
        <p:spPr>
          <a:xfrm>
            <a:off x="6632321" y="3750689"/>
            <a:ext cx="5559679" cy="3116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5CC2A9-75B2-6656-09BC-44EA3B2B4A8A}"/>
              </a:ext>
            </a:extLst>
          </p:cNvPr>
          <p:cNvSpPr txBox="1"/>
          <p:nvPr/>
        </p:nvSpPr>
        <p:spPr>
          <a:xfrm>
            <a:off x="7097023" y="3412134"/>
            <a:ext cx="4675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Silva Eukaryote 18S Ref. Set, Lower Bootstrap Threshold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25C409-D9FD-A404-A4F4-4C0DFACF07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961" y="1537751"/>
            <a:ext cx="2602094" cy="1465033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FFB1EC-D58B-79E9-7246-BAA09C22B7C5}"/>
              </a:ext>
            </a:extLst>
          </p:cNvPr>
          <p:cNvCxnSpPr/>
          <p:nvPr/>
        </p:nvCxnSpPr>
        <p:spPr>
          <a:xfrm flipV="1">
            <a:off x="11836400" y="3002784"/>
            <a:ext cx="0" cy="247514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1B2CEC-9A67-4423-AC18-C2CBC55610E1}"/>
              </a:ext>
            </a:extLst>
          </p:cNvPr>
          <p:cNvSpPr txBox="1"/>
          <p:nvPr/>
        </p:nvSpPr>
        <p:spPr>
          <a:xfrm>
            <a:off x="9279469" y="2986831"/>
            <a:ext cx="2669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Schmidtea</a:t>
            </a:r>
            <a:r>
              <a:rPr lang="en-US" sz="1200" i="1" dirty="0"/>
              <a:t> </a:t>
            </a:r>
            <a:r>
              <a:rPr lang="en-US" sz="1200" i="1" dirty="0" err="1"/>
              <a:t>mediterranea</a:t>
            </a:r>
            <a:r>
              <a:rPr lang="en-US" sz="1200" i="1" dirty="0"/>
              <a:t>, </a:t>
            </a:r>
            <a:r>
              <a:rPr lang="en-US" sz="1200" dirty="0"/>
              <a:t>of Tunisia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559345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FE60-8628-E3C2-8F49-510EEC23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Happened…?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FEB50-CCDD-CE80-15C9-C134C076E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7375"/>
          </a:xfrm>
        </p:spPr>
        <p:txBody>
          <a:bodyPr>
            <a:normAutofit lnSpcReduction="10000"/>
          </a:bodyPr>
          <a:lstStyle/>
          <a:p>
            <a:r>
              <a:rPr lang="en-US" strike="sngStrike" dirty="0"/>
              <a:t>A flatworm from Tunisia booked a flight to southern California.</a:t>
            </a:r>
          </a:p>
          <a:p>
            <a:r>
              <a:rPr lang="en-US" dirty="0"/>
              <a:t>Reducing bootstrap values that aggressively opened interpretation up too much.</a:t>
            </a:r>
          </a:p>
          <a:p>
            <a:r>
              <a:rPr lang="en-US" dirty="0"/>
              <a:t>Think back….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782AF-814F-53BD-50F2-E2AA1141C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925" y="1020871"/>
            <a:ext cx="6104149" cy="481625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B931FA-39A6-59B9-F3FA-01ABA93F3389}"/>
              </a:ext>
            </a:extLst>
          </p:cNvPr>
          <p:cNvSpPr txBox="1">
            <a:spLocks/>
          </p:cNvSpPr>
          <p:nvPr/>
        </p:nvSpPr>
        <p:spPr>
          <a:xfrm>
            <a:off x="838199" y="3747559"/>
            <a:ext cx="10515600" cy="185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It’s possible I cut too much information here.</a:t>
            </a:r>
          </a:p>
          <a:p>
            <a:endParaRPr lang="en-US" dirty="0"/>
          </a:p>
          <a:p>
            <a:r>
              <a:rPr lang="en-US" dirty="0"/>
              <a:t>It’s also possible this data is a little wacky.</a:t>
            </a:r>
          </a:p>
        </p:txBody>
      </p:sp>
    </p:spTree>
    <p:extLst>
      <p:ext uri="{BB962C8B-B14F-4D97-AF65-F5344CB8AC3E}">
        <p14:creationId xmlns:p14="http://schemas.microsoft.com/office/powerpoint/2010/main" val="168848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C3A6-56FC-283F-C182-F6265181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4706-759B-617B-8BC1-571E7E6B5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086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An interesting set of mysterious DNA sequences from southern and coastal California.</a:t>
            </a:r>
          </a:p>
          <a:p>
            <a:r>
              <a:rPr lang="en-US" dirty="0"/>
              <a:t>What do I have here?</a:t>
            </a:r>
          </a:p>
          <a:p>
            <a:pPr lvl="1"/>
            <a:r>
              <a:rPr lang="en-US" dirty="0"/>
              <a:t>I’m not really sure….</a:t>
            </a:r>
          </a:p>
          <a:p>
            <a:pPr lvl="1"/>
            <a:endParaRPr lang="en-US" dirty="0"/>
          </a:p>
          <a:p>
            <a:r>
              <a:rPr lang="en-US" dirty="0"/>
              <a:t>Remedies…?</a:t>
            </a:r>
          </a:p>
          <a:p>
            <a:pPr lvl="1"/>
            <a:r>
              <a:rPr lang="en-US" dirty="0"/>
              <a:t>Maybe should have cut less in my </a:t>
            </a:r>
            <a:r>
              <a:rPr lang="en-US" dirty="0" err="1"/>
              <a:t>filter+trim</a:t>
            </a:r>
            <a:r>
              <a:rPr lang="en-US" dirty="0"/>
              <a:t> stage?</a:t>
            </a:r>
          </a:p>
          <a:p>
            <a:pPr lvl="2"/>
            <a:r>
              <a:rPr lang="en-US" dirty="0"/>
              <a:t>And turn back? I think not.</a:t>
            </a:r>
          </a:p>
          <a:p>
            <a:pPr lvl="1"/>
            <a:r>
              <a:rPr lang="en-US" dirty="0"/>
              <a:t>Maybe should have requested a different data set?</a:t>
            </a:r>
          </a:p>
          <a:p>
            <a:pPr lvl="2"/>
            <a:r>
              <a:rPr lang="en-US" dirty="0"/>
              <a:t>Probably not, most likely something I broke.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1C2C8-E30B-9A5E-BA10-6A363D13A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571" y="147108"/>
            <a:ext cx="3833480" cy="2151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524419-8354-8226-9158-1940375DC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571" y="2298116"/>
            <a:ext cx="3833480" cy="25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3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439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 Failed Analysis of Diplacus aurantiacus Microbiomes Across California</vt:lpstr>
      <vt:lpstr>Study Species</vt:lpstr>
      <vt:lpstr>Study Region: Monterrey and Southern California</vt:lpstr>
      <vt:lpstr>Collection Methods</vt:lpstr>
      <vt:lpstr>Starting</vt:lpstr>
      <vt:lpstr>Trimming</vt:lpstr>
      <vt:lpstr>Compile and Clean</vt:lpstr>
      <vt:lpstr>Getting Creative With Assign Taxonomy</vt:lpstr>
      <vt:lpstr>So What Happened…?</vt:lpstr>
      <vt:lpstr>Conclusions…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Mcfarlan</dc:creator>
  <cp:lastModifiedBy>Sean Mcfarlan</cp:lastModifiedBy>
  <cp:revision>2</cp:revision>
  <dcterms:created xsi:type="dcterms:W3CDTF">2026-05-20T23:04:27Z</dcterms:created>
  <dcterms:modified xsi:type="dcterms:W3CDTF">2026-05-21T01:51:14Z</dcterms:modified>
</cp:coreProperties>
</file>